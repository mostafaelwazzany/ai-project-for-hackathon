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df1cf3c0bf44db" /><Relationship Type="http://schemas.openxmlformats.org/officeDocument/2006/relationships/extended-properties" Target="/docProps/app.xml" Id="Rc2c2c818733f442f" /><Relationship Type="http://schemas.openxmlformats.org/officeDocument/2006/relationships/officeDocument" Target="/ppt/presentation.xml" Id="R5c88a9dc99fa4c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5b5b15477d4516"/>
  </p:sldMasterIdLst>
  <p:notesMasterIdLst>
    <p:notesMasterId xmlns:r="http://schemas.openxmlformats.org/officeDocument/2006/relationships" r:id="R16c48fc945b0406e"/>
  </p:notesMasterIdLst>
  <p:sldIdLst>
    <p:sldId xmlns:r="http://schemas.openxmlformats.org/officeDocument/2006/relationships" id="256" r:id="R1382ae93e5844cd5"/>
    <p:sldId xmlns:r="http://schemas.openxmlformats.org/officeDocument/2006/relationships" id="257" r:id="R2583395cfe684755"/>
    <p:sldId xmlns:r="http://schemas.openxmlformats.org/officeDocument/2006/relationships" id="258" r:id="Rbaaac9fa4ef44f97"/>
    <p:sldId xmlns:r="http://schemas.openxmlformats.org/officeDocument/2006/relationships" id="259" r:id="R8e6161bc7680471a"/>
    <p:sldId xmlns:r="http://schemas.openxmlformats.org/officeDocument/2006/relationships" id="260" r:id="R1d4e1ed7776443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9b62a8cf8e4aeb" /><Relationship Type="http://schemas.openxmlformats.org/officeDocument/2006/relationships/slideMaster" Target="/ppt/slideMasters/slideMaster1.xml" Id="Rc95b5b15477d4516" /><Relationship Type="http://schemas.openxmlformats.org/officeDocument/2006/relationships/notesMaster" Target="/ppt/notesMasters/notesMaster1.xml" Id="R16c48fc945b0406e" /><Relationship Type="http://schemas.openxmlformats.org/officeDocument/2006/relationships/presProps" Target="/ppt/presProps.xml" Id="R74074452fbee4016" /><Relationship Type="http://schemas.openxmlformats.org/officeDocument/2006/relationships/tableStyles" Target="/ppt/tableStyles.xml" Id="R0af57d64fda74fad" /><Relationship Type="http://schemas.openxmlformats.org/officeDocument/2006/relationships/slide" Target="/ppt/slides/slide1.xml" Id="R1382ae93e5844cd5" /><Relationship Type="http://schemas.openxmlformats.org/officeDocument/2006/relationships/slide" Target="/ppt/slides/slide2.xml" Id="R2583395cfe684755" /><Relationship Type="http://schemas.openxmlformats.org/officeDocument/2006/relationships/slide" Target="/ppt/slides/slide3.xml" Id="Rbaaac9fa4ef44f97" /><Relationship Type="http://schemas.openxmlformats.org/officeDocument/2006/relationships/slide" Target="/ppt/slides/slide4.xml" Id="R8e6161bc7680471a" /><Relationship Type="http://schemas.openxmlformats.org/officeDocument/2006/relationships/slide" Target="/ppt/slides/slide5.xml" Id="R1d4e1ed7776443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a37e7a357b46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a557235ca14d33" /><Relationship Type="http://schemas.openxmlformats.org/officeDocument/2006/relationships/notesMaster" Target="/ppt/notesMasters/notesMaster1.xml" Id="Raf6f4795a3c147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5d96ef2a374615" /><Relationship Type="http://schemas.openxmlformats.org/officeDocument/2006/relationships/notesMaster" Target="/ppt/notesMasters/notesMaster1.xml" Id="Rd11d0a5214474b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aee62793974f8e" /><Relationship Type="http://schemas.openxmlformats.org/officeDocument/2006/relationships/notesMaster" Target="/ppt/notesMasters/notesMaster1.xml" Id="Rf2867414a8104f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c5e11486704ae7" /><Relationship Type="http://schemas.openxmlformats.org/officeDocument/2006/relationships/notesMaster" Target="/ppt/notesMasters/notesMaster1.xml" Id="Rb50dc764b4f644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ba0f7356524e60" /><Relationship Type="http://schemas.openxmlformats.org/officeDocument/2006/relationships/notesMaster" Target="/ppt/notesMasters/notesMaster1.xml" Id="Rd0c3ebf113e845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[Timing: 2 minutes]</a:t>
            </a:r>
          </a:p>
          <a:p xmlns:a="http://schemas.openxmlformats.org/drawingml/2006/main">
            <a:r>
              <a:t>Introduce the problem and scope clearly. Say: this is not a general medical chatbot; it is a colorectal cancer guideline assistant grounded in NICE.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config.py, data/raw/nice_ng151_colorectal_cancer.pdf, data/raw/nice_ng12_suspected_cancer.pdf.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[Timing: 3 minutes]</a:t>
            </a:r>
          </a:p>
          <a:p xmlns:a="http://schemas.openxmlformats.org/drawingml/2006/main">
            <a:r>
              <a:t>Explain chunking simply: it is document-based + recursive + token-aware. We did not use blind fixed-size only, because guidelines have recommendations and tables.</a:t>
            </a:r>
          </a:p>
          <a:p xmlns:a="http://schemas.openxmlformats.org/drawingml/2006/main">
            <a:r>
              <a:t>Mention experiments: 450/80 was selected because it gave the best balance in our evaluation.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ingest.py, config.py, web/lib/data.ts chunkData.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[Timing: 4 minutes]</a:t>
            </a:r>
          </a:p>
          <a:p xmlns:a="http://schemas.openxmlformats.org/drawingml/2006/main">
            <a:r>
              <a:t>Explain Precision vs Found Rate: Precision@5 is lower because we retrieve 5 chunks and usually only one exact expected recommendation is counted. Found Rate@5 is the key RAG metric because it confirms the right evidence reaches the generator.</a:t>
            </a:r>
          </a:p>
          <a:p xmlns:a="http://schemas.openxmlformats.org/drawingml/2006/main">
            <a:r>
              <a:t>Say why k=5: it reached 100% found rate on the current test set, while k=1 missed many.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evaluate.py, data/evaluation/evaluation_summary.json, data/evaluation/evaluation_summary_k1/k3/k4.json.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[Timing: 3 minutes + separate video demo max 4 minutes]</a:t>
            </a:r>
          </a:p>
          <a:p xmlns:a="http://schemas.openxmlformats.org/drawingml/2006/main">
            <a:r>
              <a:t>Mention model experiments honestly: embedding model experiments were done; generation model choice changed because Gemini limits affected the demo, and Groq/Qwen was used as a cloud LLM. Do not claim the LLM is the source of truth.</a:t>
            </a:r>
          </a:p>
          <a:p xmlns:a="http://schemas.openxmlformats.org/drawingml/2006/main">
            <a:r>
              <a:t>Demo order: ask an in-scope question, click NICE source, then ask an out-of-scope question and show refusal.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generate.py SYSTEM_PROMPT, quota_output, refusal_output; chat-panel.tsx source button.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[Timing: 3 minutes]</a:t>
            </a:r>
          </a:p>
          <a:p xmlns:a="http://schemas.openxmlformats.org/drawingml/2006/main">
            <a:r>
              <a:t>Close by summarizing decisions: NICE as trusted data source, e5-base for bilingual embeddings, Chroma for vector DB, k=5 for coverage, Groq/Qwen for concise generation. Be explicit about limitations: not medical advice, not open-domain, API limits can affect generation.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config.py, ingest.py, evaluate.py, data/evaluation/evaluation_summary.json.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c6a67b4b3240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9436b4089a4d7c" /><Relationship Type="http://schemas.openxmlformats.org/officeDocument/2006/relationships/slideLayout" Target="/ppt/slideLayouts/slideLayout1.xml" Id="R48dd246995884b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dd246995884b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6a55baf7ec438c" /><Relationship Type="http://schemas.openxmlformats.org/officeDocument/2006/relationships/notesSlide" Target="/ppt/notesSlides/notesSlide1.xml" Id="R142be875845248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49c4044b8448cf" /><Relationship Type="http://schemas.openxmlformats.org/officeDocument/2006/relationships/notesSlide" Target="/ppt/notesSlides/notesSlide2.xml" Id="Rb98e4bba3c214c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52525901c44de7" /><Relationship Type="http://schemas.openxmlformats.org/officeDocument/2006/relationships/chart" Target="/ppt/slides/charts/chart1.xml" Id="R0f58af2f1ea7403c" /><Relationship Type="http://schemas.openxmlformats.org/officeDocument/2006/relationships/notesSlide" Target="/ppt/notesSlides/notesSlide3.xml" Id="Rb3210860885341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567a30bfa04d75" /><Relationship Type="http://schemas.openxmlformats.org/officeDocument/2006/relationships/notesSlide" Target="/ppt/notesSlides/notesSlide4.xml" Id="R9be0cc4b657f46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72073722544d5c" /><Relationship Type="http://schemas.openxmlformats.org/officeDocument/2006/relationships/notesSlide" Target="/ppt/notesSlides/notesSlide5.xml" Id="R1fd8df251286458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Found Rate</c:v>
          </c:tx>
          <c:spPr>
            <a:solidFill xmlns:a="http://schemas.openxmlformats.org/drawingml/2006/main">
              <a:srgbClr val="22C55E"/>
            </a:solidFill>
          </c:spPr>
          <c:cat>
            <c:strLit>
              <c:ptCount val="4"/>
              <c:pt idx="0">
                <c:v>k=1</c:v>
              </c:pt>
              <c:pt idx="1">
                <c:v>k=3</c:v>
              </c:pt>
              <c:pt idx="2">
                <c:v>k=4</c:v>
              </c:pt>
              <c:pt idx="3">
                <c:v>k=5</c:v>
              </c:pt>
            </c:strLit>
          </c:cat>
          <c:val>
            <c:numLit>
              <c:formatCode>0"%"</c:formatCode>
              <c:ptCount val="4"/>
              <c:pt idx="0">
                <c:v>77.05</c:v>
              </c:pt>
              <c:pt idx="1">
                <c:v>95.9</c:v>
              </c:pt>
              <c:pt idx="2">
                <c:v>97.54</c:v>
              </c:pt>
              <c:pt idx="3">
                <c:v>100</c:v>
              </c:pt>
            </c:numLit>
          </c:val>
        </c:ser>
        <c:ser>
          <c:idx val="1"/>
          <c:order val="1"/>
          <c:tx>
            <c:v>Precision</c:v>
          </c:tx>
          <c:spPr>
            <a:solidFill xmlns:a="http://schemas.openxmlformats.org/drawingml/2006/main">
              <a:srgbClr val="38BDF8"/>
            </a:solidFill>
          </c:spPr>
          <c:cat>
            <c:strLit>
              <c:ptCount val="4"/>
              <c:pt idx="0">
                <c:v>k=1</c:v>
              </c:pt>
              <c:pt idx="1">
                <c:v>k=3</c:v>
              </c:pt>
              <c:pt idx="2">
                <c:v>k=4</c:v>
              </c:pt>
              <c:pt idx="3">
                <c:v>k=5</c:v>
              </c:pt>
            </c:strLit>
          </c:cat>
          <c:val>
            <c:numLit>
              <c:formatCode>0"%"</c:formatCode>
              <c:ptCount val="4"/>
              <c:pt idx="0">
                <c:v>77.05</c:v>
              </c:pt>
              <c:pt idx="1">
                <c:v>39.62</c:v>
              </c:pt>
              <c:pt idx="2">
                <c:v>30.94</c:v>
              </c:pt>
              <c:pt idx="3">
                <c:v>25.74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25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F8FAFC"/>
              </a:solidFill>
            </a:defRPr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1F0A49-AB95-47D5-B193-BF3CDB0A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-1619250"/>
            <a:ext cx="4000500" cy="40005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47A898-ECAC-4A32-B0A1-C3E73DBF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19250" y="4476750"/>
            <a:ext cx="3429000" cy="34290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97F0BB-FDD4-42A0-911B-ACF13D59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95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8FAFC"/>
                </a:solidFill>
              </a:defRPr>
            </a:pPr>
            <a:r>
              <a:rPr sz="4050" b="1">
                <a:solidFill>
                  <a:srgbClr val="F8FAFC"/>
                </a:solidFill>
              </a:rPr>
              <a:t>Colorectal Cancer Assistant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9273BE-4BBC-4633-BA4A-BBA9737D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94A3B8"/>
                </a:solidFill>
              </a:defRPr>
            </a:pPr>
            <a:r>
              <a:rPr sz="1800" b="0">
                <a:solidFill>
                  <a:srgbClr val="94A3B8"/>
                </a:solidFill>
              </a:rPr>
              <a:t>A bilingual RAG assistant grounded in official NICE guidance.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03FAE1-6B46-4671-99C6-7A0EDBB1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32385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7F9AD5-EEB1-4A0C-A587-D8FC21F3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099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8BDF8"/>
                </a:solidFill>
              </a:defRPr>
            </a:pPr>
            <a:r>
              <a:rPr sz="1875" b="1">
                <a:solidFill>
                  <a:srgbClr val="38BDF8"/>
                </a:solidFill>
              </a:rPr>
              <a:t>Scope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B5F39F-1E31-403F-ABD9-7B555E76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90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0A77A3-1CCD-4782-9A4B-BB238C86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05200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Colorectal cancer only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A542E0-4EB9-4F4C-804C-0428E31E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90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8A4E0B-4A41-44DA-9380-2BD0321F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05250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Arabic + English Q&amp;A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1BDC5C-2FC0-4EC1-958C-CB9AD6AF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24150"/>
            <a:ext cx="30480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3903E2-BFA0-4A28-A7AA-D30387A5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099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DD4BF"/>
                </a:solidFill>
              </a:defRPr>
            </a:pPr>
            <a:r>
              <a:rPr sz="1875" b="1">
                <a:solidFill>
                  <a:srgbClr val="2DD4BF"/>
                </a:solidFill>
              </a:rPr>
              <a:t>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5611D3-B875-4934-BC0B-7DD6BB13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76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E4942C-EE87-4F95-9D35-88CADE53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390900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2 NICE PDF files indexed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7752EA-BF6E-4ED7-99E4-36F5E89E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76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8170C6-1C05-4C73-A235-13F4D4AA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790950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NG151 main guideline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1BE28D-0B5E-404F-859B-0BEF916B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76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5B18D3-E6B0-416B-B5E4-889701C5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191000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NG12 colorectal referral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95636E-D0F5-4556-BCE6-8151533C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24150"/>
            <a:ext cx="2952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763A8C-3E62-4E54-870D-6F6C06A7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09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C55E"/>
                </a:solidFill>
              </a:defRPr>
            </a:pPr>
            <a:r>
              <a:rPr sz="1875" b="1">
                <a:solidFill>
                  <a:srgbClr val="22C55E"/>
                </a:solidFill>
              </a:rPr>
              <a:t>Team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5105DF-4D47-4030-BE16-B4FEA482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8615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Mostafa Ayman, Menna Adel,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Asr Mohamed, Roaa Youssef,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Nour Soft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B6B940-DCE6-4C56-B1C8-829B68B8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</a:defRPr>
            </a:pPr>
            <a:r>
              <a:rPr sz="750" b="0">
                <a:solidFill>
                  <a:srgbClr val="94A3B8"/>
                </a:solidFill>
              </a:rPr>
              <a:t>Sources: config.py, data/raw NICE PDFs. Data files used: 2 PDFs.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1C3A6F-BF53-450D-9F5F-ABA73136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15-minute project presentation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EC5947-88D1-4239-B971-8A2EF689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458122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F8E0A10-3CBC-4C13-BF61-94525C52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-1619250"/>
            <a:ext cx="4000500" cy="40005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B392E9-1F75-4B3C-9409-58781BCC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19250" y="4476750"/>
            <a:ext cx="3429000" cy="34290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D5C97E-96E1-412F-8F57-DA11111B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D4BF"/>
                </a:solidFill>
              </a:defRPr>
            </a:pPr>
            <a:r>
              <a:rPr sz="975" b="1">
                <a:solidFill>
                  <a:srgbClr val="2DD4BF"/>
                </a:solidFill>
              </a:rPr>
              <a:t>PIPELINE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698182-7774-4AEE-9DB3-E2A93FF1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66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From PDF to searchable clinical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D7BBE1-C118-411E-ABC4-ECA1BE50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4A3B8"/>
                </a:solidFill>
              </a:defRPr>
            </a:pPr>
            <a:r>
              <a:rPr sz="1500" b="0">
                <a:solidFill>
                  <a:srgbClr val="94A3B8"/>
                </a:solidFill>
              </a:rPr>
              <a:t>Parsing, cleaning, and chunking were built to keep recommendations and citations usable.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F25266-F6F4-4642-BB1C-04FB0615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3622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8742D1-8981-4CB5-BB44-C9D05485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807FEE-A9A2-4304-A999-DFF4A463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20617"/>
                </a:solidFill>
              </a:defRPr>
            </a:pPr>
            <a:r>
              <a:rPr sz="1125" b="1">
                <a:solidFill>
                  <a:srgbClr val="020617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89E18A-AAC8-43EF-8638-CA80D2C4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146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Parsing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1E9CA1-D5ED-4DAE-A4C4-EC431036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28975"/>
            <a:ext cx="1504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pymupdf4llm converts PDF pages to Markdown.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98BDDD-847D-447F-AF50-A38C3B57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24150"/>
            <a:ext cx="23622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C992F4-0F29-4C53-B1B5-D6520E4C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33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8980D9-FAB3-4880-A6A5-AF6FBC56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908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20617"/>
                </a:solidFill>
              </a:defRPr>
            </a:pPr>
            <a:r>
              <a:rPr sz="1125" b="1">
                <a:solidFill>
                  <a:srgbClr val="020617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765727-80AD-4525-A4CD-4B92B682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9146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Cleaning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E95F7F-C0C2-42E2-9111-CA552DBF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28975"/>
            <a:ext cx="1504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Remove PDF noise while preserving bullets and tables.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F23DA2-B762-4FB1-9548-69F68252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724150"/>
            <a:ext cx="23622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9EC74D-A8F5-4657-AA7E-C42BE777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33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22C55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2BFDB4-4760-4BC6-94B9-57AC5D4A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908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20617"/>
                </a:solidFill>
              </a:defRPr>
            </a:pPr>
            <a:r>
              <a:rPr sz="1125" b="1">
                <a:solidFill>
                  <a:srgbClr val="020617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C3DC70-C9CE-4C89-95DF-11EC07E0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146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Chunking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40266B-C72F-4215-BD7F-556887DC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28975"/>
            <a:ext cx="1504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Structure-aware recursive splitting by recommendations.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A37560-2C26-4E49-B4B9-75172964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23622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EE5D6E-38A0-4E28-88FA-F6EDEC30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33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49E85F-CF8C-4B1B-B1CF-B267F87D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908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20617"/>
                </a:solidFill>
              </a:defRPr>
            </a:pPr>
            <a:r>
              <a:rPr sz="1125" b="1">
                <a:solidFill>
                  <a:srgbClr val="020617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C2A399-BBFA-412B-A06B-F961D4AF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146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Indexing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84DE3B-BBE9-4B4E-A182-7F03E5C2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28975"/>
            <a:ext cx="1504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Embed chunks and store vectors in Chroma.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76B65F-166F-48D0-8134-826BAD7E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76750"/>
            <a:ext cx="2286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3DC1C2-95D7-4071-9884-5A6DEC99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386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Chunk size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D1AA28-1153-4A83-B925-CBC5F0E9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339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8BDF8"/>
                </a:solidFill>
              </a:defRPr>
            </a:pPr>
            <a:r>
              <a:rPr sz="2325" b="1">
                <a:solidFill>
                  <a:srgbClr val="38BDF8"/>
                </a:solidFill>
              </a:rPr>
              <a:t>450 tokens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CB0ED2-F2E9-4C51-A176-0C527D56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76750"/>
            <a:ext cx="2095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A6905D-7FE5-46B9-B902-46B82244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6386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Overlap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C5EB85-7F18-4D77-B34B-D9F32014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9339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DD4BF"/>
                </a:solidFill>
              </a:defRPr>
            </a:pPr>
            <a:r>
              <a:rPr sz="2325" b="1">
                <a:solidFill>
                  <a:srgbClr val="2DD4BF"/>
                </a:solidFill>
              </a:rPr>
              <a:t>80 tokens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ED844F-9DEA-4967-B5AB-4AAA69C7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76750"/>
            <a:ext cx="2095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0F2313-EAE7-4EE0-A462-E8A307D5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386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Final chunks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637C10-398F-4831-A59B-43A13BA9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339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2C55E"/>
                </a:solidFill>
              </a:defRPr>
            </a:pPr>
            <a:r>
              <a:rPr sz="2325" b="1">
                <a:solidFill>
                  <a:srgbClr val="22C55E"/>
                </a:solidFill>
              </a:rPr>
              <a:t>95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CA0EBD-066A-45C4-A7D0-3DE01BFD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7150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DD4BF"/>
                </a:solidFill>
              </a:defRPr>
            </a:pPr>
            <a:r>
              <a:rPr sz="1425" b="1">
                <a:solidFill>
                  <a:srgbClr val="2DD4BF"/>
                </a:solidFill>
              </a:rPr>
              <a:t>Chunk experiments tested: 300/50, 450/80, 600/100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F6F008-AC1A-4FD5-B098-FB49930F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</a:defRPr>
            </a:pPr>
            <a:r>
              <a:rPr sz="750" b="0">
                <a:solidFill>
                  <a:srgbClr val="94A3B8"/>
                </a:solidFill>
              </a:rPr>
              <a:t>Sources: ingest.py, config.py. Tested chunk configs: 300/50, 450/80, 600/100.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5D7A50-798C-46B0-A834-1F347269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15-minute project presentation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F6209A-152B-4056-B5AF-BE51535A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849090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D35447-DA41-49C0-80FC-B854D521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-1619250"/>
            <a:ext cx="4000500" cy="40005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8D56F4-6894-434E-B36C-8B04748C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19250" y="4476750"/>
            <a:ext cx="3429000" cy="34290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933C6A-E789-4D25-868D-D19136F1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D4BF"/>
                </a:solidFill>
              </a:defRPr>
            </a:pPr>
            <a:r>
              <a:rPr sz="975" b="1">
                <a:solidFill>
                  <a:srgbClr val="2DD4BF"/>
                </a:solidFill>
              </a:rPr>
              <a:t>RETRIEVAL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F01AB0-EE94-446D-A2EE-8CF659D5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66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multilingual-e5-base retrieves the evidence before the LLM answers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CD3E8A-BB80-4BF8-A838-84D87015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4A3B8"/>
                </a:solidFill>
              </a:defRPr>
            </a:pPr>
            <a:r>
              <a:rPr sz="1500" b="0">
                <a:solidFill>
                  <a:srgbClr val="94A3B8"/>
                </a:solidFill>
              </a:rPr>
              <a:t>Similarity search uses normalized embeddings and Chroma cosine distance.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63B6E9-556B-40A8-A0DF-84951A90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190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8EDC06-3B66-4A4E-B171-7AAB6F76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860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Embedding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7AFD7A-60C7-4496-94C2-07B92009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8BDF8"/>
                </a:solidFill>
              </a:defRPr>
            </a:pPr>
            <a:r>
              <a:rPr sz="2325" b="1">
                <a:solidFill>
                  <a:srgbClr val="38BDF8"/>
                </a:solidFill>
              </a:rPr>
              <a:t>e5-base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28A06D-A9EA-44D8-BCE3-1093EA66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24150"/>
            <a:ext cx="2095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8D8386-07B5-4715-B828-A5635164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860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Vector DB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591BFF-F6FD-410E-A6B9-E3CFEC9B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1813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DD4BF"/>
                </a:solidFill>
              </a:defRPr>
            </a:pPr>
            <a:r>
              <a:rPr sz="2325" b="1">
                <a:solidFill>
                  <a:srgbClr val="2DD4BF"/>
                </a:solidFill>
              </a:rPr>
              <a:t>Chroma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4F0815-3A43-44FE-B5FA-FA04B227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24150"/>
            <a:ext cx="1714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F45007-4A89-4E44-B08F-C5053377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860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Production 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4304BC-DDE5-43AB-9DDD-789BFC60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8135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2C55E"/>
                </a:solidFill>
              </a:defRPr>
            </a:pPr>
            <a:r>
              <a:rPr sz="2325" b="1">
                <a:solidFill>
                  <a:srgbClr val="22C55E"/>
                </a:solidFill>
              </a:rPr>
              <a:t>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85D6EA-9178-4E86-9333-F9C62BF8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724150"/>
            <a:ext cx="1809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8C53F6-7A48-4B34-AA12-DBF1542F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860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Test set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6D54EF-9A5B-40D2-833A-4E6A7534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813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59E0B"/>
                </a:solidFill>
              </a:defRPr>
            </a:pPr>
            <a:r>
              <a:rPr sz="2325" b="1">
                <a:solidFill>
                  <a:srgbClr val="F59E0B"/>
                </a:solidFill>
              </a:rPr>
              <a:t>130 Qs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9CFC22-65C0-40BA-9642-C2FCA517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24150"/>
            <a:ext cx="1714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6D0B29-D21B-48E2-8DAA-5033F10D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860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In-scope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886C40-A5AE-48AD-89B9-F138FA79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8135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2C55E"/>
                </a:solidFill>
              </a:defRPr>
            </a:pPr>
            <a:r>
              <a:rPr sz="2325" b="1">
                <a:solidFill>
                  <a:srgbClr val="22C55E"/>
                </a:solidFill>
              </a:rPr>
              <a:t>122</a:t>
            </a:r>
          </a:p>
        </p:txBody>
      </p:sp>
      <p:graphicFrame>
        <p:nvGraphicFramePr>
          <p:cNvPr id="48" name="Chart"/>
          <p:cNvGraphicFramePr/>
          <p:nvPr/>
        </p:nvGraphicFramePr>
        <p:xfrm>
          <a:off xmlns:a="http://schemas.openxmlformats.org/drawingml/2006/main" x="857250" y="4171950"/>
          <a:ext xmlns:a="http://schemas.openxmlformats.org/drawingml/2006/main" cx="619125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f58af2f1ea7403c"/>
          </a:graphicData>
        </a:graphic>
      </p:graphicFrame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57DD35-1F29-46EC-9502-93DCC6C5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267200"/>
            <a:ext cx="30480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C79735-C616-4EE8-B028-296D6631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148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C55E"/>
                </a:solidFill>
              </a:defRPr>
            </a:pPr>
            <a:r>
              <a:rPr sz="1575" b="1">
                <a:solidFill>
                  <a:srgbClr val="22C55E"/>
                </a:solidFill>
              </a:rPr>
              <a:t>Final retrieval metrics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E31468-9B65-4649-9134-B5CE137C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876800"/>
            <a:ext cx="257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Found Rate@5: 100%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Precision@5: 25.74%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MAP@5: 82.63%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MRR: 86.15%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A0978B-8B08-46FC-827E-56287145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</a:defRPr>
            </a:pPr>
            <a:r>
              <a:rPr sz="750" b="0">
                <a:solidFill>
                  <a:srgbClr val="94A3B8"/>
                </a:solidFill>
              </a:rPr>
              <a:t>Sources: evaluate.py, data/evaluation/evaluation_summary.json, web/lib/data.ts.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3AAF64-E60A-45EE-AA30-CD2908B3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15-minute project presentation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4ECDEF-8A63-4B9B-95F6-4E17183F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309543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5753FC-0704-4F15-89F3-75F8BAF80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-1619250"/>
            <a:ext cx="4000500" cy="40005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7D5604-325B-4EFD-A490-D688F485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19250" y="4476750"/>
            <a:ext cx="3429000" cy="34290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9FF041-9D33-44CE-99A3-85C3C531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D4BF"/>
                </a:solidFill>
              </a:defRPr>
            </a:pPr>
            <a:r>
              <a:rPr sz="975" b="1">
                <a:solidFill>
                  <a:srgbClr val="2DD4BF"/>
                </a:solidFill>
              </a:rPr>
              <a:t>GENERATION +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0AFB84-05B1-4CFC-AE24-B8215777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66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The LLM is only allowed to write from retrieved passages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B172CA-E5D9-4537-A116-DD9637FC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4A3B8"/>
                </a:solidFill>
              </a:defRPr>
            </a:pPr>
            <a:r>
              <a:rPr sz="1500" b="0">
                <a:solidFill>
                  <a:srgbClr val="94A3B8"/>
                </a:solidFill>
              </a:rPr>
              <a:t>Demo video should be under 4 minutes and show success, refusal, and citation grounding.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67ED69-85CA-4A43-9F91-F5658203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4762500" cy="2266950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660E94-CF17-4FCB-B043-D241BCDE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8BDF8"/>
                </a:solidFill>
              </a:defRPr>
            </a:pPr>
            <a:r>
              <a:rPr sz="1875" b="1">
                <a:solidFill>
                  <a:srgbClr val="38BDF8"/>
                </a:solidFill>
              </a:rPr>
              <a:t>Generation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381659-8540-4731-807A-F30A3839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575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8FAFC"/>
                </a:solidFill>
              </a:defRPr>
            </a:pPr>
            <a:r>
              <a:rPr sz="2175" b="1">
                <a:solidFill>
                  <a:srgbClr val="F8FAFC"/>
                </a:solidFill>
              </a:rPr>
              <a:t>Groq + Qwen 3.6 27B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8153E1-613F-4B07-B4BA-08336B5F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76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BD96DE-26FA-44A5-9410-D7FBAA10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90950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Gemini was tested; quota limits affected demos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A3A740-DC71-4222-904C-079D6FBC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95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AC2631-87F2-4CB2-AEFC-44A3C717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10050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Prompt builds: recommendation + excerpt + source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03CC09-1CC2-4F1C-9482-69813D6A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14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4FA93F-86DD-4407-8212-0E6F9EA4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29150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Refuses when evidence is missing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F32DE4-4729-4125-857A-B2C379E3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4762500" cy="2266950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E6CE20-3C26-4027-97A4-8BC2CF21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765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C55E"/>
                </a:solidFill>
              </a:defRPr>
            </a:pPr>
            <a:r>
              <a:rPr sz="1875" b="1">
                <a:solidFill>
                  <a:srgbClr val="22C55E"/>
                </a:solidFill>
              </a:rPr>
              <a:t>4-minute demo checklist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6C21F1-2449-49BF-A064-49CFD2AB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95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AC0809-BDBB-4332-AADA-DFB95932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09950"/>
            <a:ext cx="369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In-scope: follow-up after curative surgery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B6A78E-0EA6-49CD-BD0C-C6FF3C93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33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0E87F7-EE36-4BE1-ACA8-C54A0DAA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48100"/>
            <a:ext cx="369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Out-of-scope: breast or pancreatic cancer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DBE3C8-37CB-4B75-BE36-7CD906EC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71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60C9B5-9808-4543-9141-0CC96D5E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86250"/>
            <a:ext cx="369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Open NICE source and show supporting 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5FE7C5-2DFA-46AA-8C03-F9E4B6B1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</a:defRPr>
            </a:pPr>
            <a:r>
              <a:rPr sz="750" b="0">
                <a:solidFill>
                  <a:srgbClr val="94A3B8"/>
                </a:solidFill>
              </a:rPr>
              <a:t>Sources: generate.py, web_chat_bridge.py, web/components/chat-panel.tsx.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A9CF37-0250-42C0-9646-7746288D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15-minute project presentation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91D763-61C0-4731-AEE5-A8DB3BDC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584373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CFABED-6A7E-4F0E-9842-49C7E5BB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-1619250"/>
            <a:ext cx="4000500" cy="40005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A6E01A-C467-485F-88E7-35CB35B2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19250" y="4476750"/>
            <a:ext cx="3429000" cy="34290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B2A2E7-A277-48FB-A32C-0C15BDC8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D4BF"/>
                </a:solidFill>
              </a:defRPr>
            </a:pPr>
            <a:r>
              <a:rPr sz="975" b="1">
                <a:solidFill>
                  <a:srgbClr val="2DD4BF"/>
                </a:solidFill>
              </a:rPr>
              <a:t>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1649F9-A215-4E4E-94D6-4ABA8979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66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The final system is explainable, measured, and demo-ready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F4F933-7724-4A40-BC91-F3BF51E3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4A3B8"/>
                </a:solidFill>
              </a:defRPr>
            </a:pPr>
            <a:r>
              <a:rPr sz="1500" b="0">
                <a:solidFill>
                  <a:srgbClr val="94A3B8"/>
                </a:solidFill>
              </a:rPr>
              <a:t>The strongest result is reliable evidence retrieval with clear limits.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84EEDA-DD0C-4169-978A-2A3A4896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981075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C8D557-B996-4B41-8B17-43252C79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03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D4BF"/>
                </a:solidFill>
              </a:defRPr>
            </a:pPr>
            <a:r>
              <a:rPr sz="1350" b="1">
                <a:solidFill>
                  <a:srgbClr val="2DD4BF"/>
                </a:solidFill>
              </a:rPr>
              <a:t>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DC4C44-150E-40B0-B31C-DDE020AF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908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2 NICE PDFs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489C96-5891-4A02-8D1F-E268F118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00325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4A3B8"/>
                </a:solidFill>
              </a:defRPr>
            </a:pPr>
            <a:r>
              <a:rPr sz="1275" b="0">
                <a:solidFill>
                  <a:srgbClr val="94A3B8"/>
                </a:solidFill>
              </a:rPr>
              <a:t>NG151 + colorectal section of NG12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FBF358-3E69-42A5-9AD8-FB4B9F8C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981075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F3F21D-93EB-454E-97C9-6F7C59BC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289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D4BF"/>
                </a:solidFill>
              </a:defRPr>
            </a:pPr>
            <a:r>
              <a:rPr sz="1350" b="1">
                <a:solidFill>
                  <a:srgbClr val="2DD4BF"/>
                </a:solidFill>
              </a:rPr>
              <a:t>Chunks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1F8622-AFB1-402F-A6C2-77B3AF34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194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95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6AE225-260E-41F9-9453-8DB611D3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228975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4A3B8"/>
                </a:solidFill>
              </a:defRPr>
            </a:pPr>
            <a:r>
              <a:rPr sz="1275" b="0">
                <a:solidFill>
                  <a:srgbClr val="94A3B8"/>
                </a:solidFill>
              </a:rPr>
              <a:t>Structure-aware recursive, 450/80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ED455A-91F5-4372-8702-0C190344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981075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CD81FF-0320-44AC-9956-A68F11A8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576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D4BF"/>
                </a:solidFill>
              </a:defRPr>
            </a:pPr>
            <a:r>
              <a:rPr sz="1350" b="1">
                <a:solidFill>
                  <a:srgbClr val="2DD4BF"/>
                </a:solidFill>
              </a:rPr>
              <a:t>Retrieval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D3C187-7CFC-47C6-BDA0-20278641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481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Top-k = 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8E75CC-E425-4303-8771-B9500E32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857625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4A3B8"/>
                </a:solidFill>
              </a:defRPr>
            </a:pPr>
            <a:r>
              <a:rPr sz="1275" b="0">
                <a:solidFill>
                  <a:srgbClr val="94A3B8"/>
                </a:solidFill>
              </a:rPr>
              <a:t>100% Found Rate@5 on 122 in-scope questions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8F737E-4AB2-4712-8D53-379F5991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62450"/>
            <a:ext cx="981075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7061C8-870C-451A-B820-1D79DE2A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862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D4BF"/>
                </a:solidFill>
              </a:defRPr>
            </a:pPr>
            <a:r>
              <a:rPr sz="1350" b="1">
                <a:solidFill>
                  <a:srgbClr val="2DD4BF"/>
                </a:solidFill>
              </a:rPr>
              <a:t>Languages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488D24-BFCD-4AE9-A2D4-F977AF50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4767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AR + 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081C6C-0C96-4D08-9499-BA61B058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486275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4A3B8"/>
                </a:solidFill>
              </a:defRPr>
            </a:pPr>
            <a:r>
              <a:rPr sz="1275" b="0">
                <a:solidFill>
                  <a:srgbClr val="94A3B8"/>
                </a:solidFill>
              </a:rPr>
              <a:t>61/61 Arabic, 61/61 English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5EA650-53BD-4C3F-B317-0AD9AA68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91100"/>
            <a:ext cx="981075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E639C9-5FF6-4637-8181-551F9612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149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</a:defRPr>
            </a:pPr>
            <a:r>
              <a:rPr sz="1350" b="1">
                <a:solidFill>
                  <a:srgbClr val="F59E0B"/>
                </a:solidFill>
              </a:rPr>
              <a:t>Limitations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3A0279-3FCC-44B5-9B74-E33C7850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Scope-bound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00CE4C-C3A7-4563-A61B-59A18E0E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114925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4A3B8"/>
                </a:solidFill>
              </a:defRPr>
            </a:pPr>
            <a:r>
              <a:rPr sz="1275" b="0">
                <a:solidFill>
                  <a:srgbClr val="94A3B8"/>
                </a:solidFill>
              </a:rPr>
              <a:t>Small domain dataset; wording can affect retrieval; API limits can affect generation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9CBD93-DD0E-4276-BF34-E0B61618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</a:defRPr>
            </a:pPr>
            <a:r>
              <a:rPr sz="750" b="0">
                <a:solidFill>
                  <a:srgbClr val="94A3B8"/>
                </a:solidFill>
              </a:rPr>
              <a:t>Sources: config.py, ingest.py, evaluate.py, evaluation_summary.json.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747464-FBE2-409B-A681-B8F879CE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15-minute project presentation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2C2CA5-3CAE-4E0A-97FA-7320C1DF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0947714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2026-08-19T20:39:57.6150000Z</dcterms:created>
  <dcterms:modified xsi:type="dcterms:W3CDTF">2026-08-19T20:39:57.6150000Z</dcterms:modified>
</coreProperties>
</file>