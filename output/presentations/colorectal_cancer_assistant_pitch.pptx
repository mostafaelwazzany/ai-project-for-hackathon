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fcc35bd4b34220" /><Relationship Type="http://schemas.openxmlformats.org/officeDocument/2006/relationships/extended-properties" Target="/docProps/app.xml" Id="R0dba977f23454e98" /><Relationship Type="http://schemas.openxmlformats.org/officeDocument/2006/relationships/officeDocument" Target="/ppt/presentation.xml" Id="Rda203967104e4e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d278e8f93b4f98"/>
  </p:sldMasterIdLst>
  <p:notesMasterIdLst>
    <p:notesMasterId xmlns:r="http://schemas.openxmlformats.org/officeDocument/2006/relationships" r:id="R6f272e01756f4a74"/>
  </p:notesMasterIdLst>
  <p:sldIdLst>
    <p:sldId xmlns:r="http://schemas.openxmlformats.org/officeDocument/2006/relationships" id="256" r:id="R0f111af7efa14c4c"/>
    <p:sldId xmlns:r="http://schemas.openxmlformats.org/officeDocument/2006/relationships" id="257" r:id="R05a00a68737f46f0"/>
    <p:sldId xmlns:r="http://schemas.openxmlformats.org/officeDocument/2006/relationships" id="258" r:id="R9bec229066a54556"/>
    <p:sldId xmlns:r="http://schemas.openxmlformats.org/officeDocument/2006/relationships" id="259" r:id="R80f0ca3258654838"/>
    <p:sldId xmlns:r="http://schemas.openxmlformats.org/officeDocument/2006/relationships" id="260" r:id="R06e73925f5034eba"/>
    <p:sldId xmlns:r="http://schemas.openxmlformats.org/officeDocument/2006/relationships" id="261" r:id="R5c6cb2f6b8bc424f"/>
    <p:sldId xmlns:r="http://schemas.openxmlformats.org/officeDocument/2006/relationships" id="262" r:id="R5714bc797b3146b6"/>
    <p:sldId xmlns:r="http://schemas.openxmlformats.org/officeDocument/2006/relationships" id="263" r:id="R4c5ca335a03c4801"/>
    <p:sldId xmlns:r="http://schemas.openxmlformats.org/officeDocument/2006/relationships" id="264" r:id="Ra6c104477f564906"/>
    <p:sldId xmlns:r="http://schemas.openxmlformats.org/officeDocument/2006/relationships" id="265" r:id="R1f90c41cb8904ed1"/>
    <p:sldId xmlns:r="http://schemas.openxmlformats.org/officeDocument/2006/relationships" id="266" r:id="Ra092d8865e824fa2"/>
    <p:sldId xmlns:r="http://schemas.openxmlformats.org/officeDocument/2006/relationships" id="267" r:id="Rddeace2ab31a45db"/>
    <p:sldId xmlns:r="http://schemas.openxmlformats.org/officeDocument/2006/relationships" id="268" r:id="R61ffa3e5e7624b9c"/>
    <p:sldId xmlns:r="http://schemas.openxmlformats.org/officeDocument/2006/relationships" id="269" r:id="R72f5ecc2291641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0236dff82543ab" /><Relationship Type="http://schemas.openxmlformats.org/officeDocument/2006/relationships/slideMaster" Target="/ppt/slideMasters/slideMaster1.xml" Id="Rc0d278e8f93b4f98" /><Relationship Type="http://schemas.openxmlformats.org/officeDocument/2006/relationships/notesMaster" Target="/ppt/notesMasters/notesMaster1.xml" Id="R6f272e01756f4a74" /><Relationship Type="http://schemas.openxmlformats.org/officeDocument/2006/relationships/presProps" Target="/ppt/presProps.xml" Id="R7e0a9193ce494c16" /><Relationship Type="http://schemas.openxmlformats.org/officeDocument/2006/relationships/tableStyles" Target="/ppt/tableStyles.xml" Id="Rcd3b7eff353c4644" /><Relationship Type="http://schemas.openxmlformats.org/officeDocument/2006/relationships/slide" Target="/ppt/slides/slide1.xml" Id="R0f111af7efa14c4c" /><Relationship Type="http://schemas.openxmlformats.org/officeDocument/2006/relationships/slide" Target="/ppt/slides/slide2.xml" Id="R05a00a68737f46f0" /><Relationship Type="http://schemas.openxmlformats.org/officeDocument/2006/relationships/slide" Target="/ppt/slides/slide3.xml" Id="R9bec229066a54556" /><Relationship Type="http://schemas.openxmlformats.org/officeDocument/2006/relationships/slide" Target="/ppt/slides/slide4.xml" Id="R80f0ca3258654838" /><Relationship Type="http://schemas.openxmlformats.org/officeDocument/2006/relationships/slide" Target="/ppt/slides/slide5.xml" Id="R06e73925f5034eba" /><Relationship Type="http://schemas.openxmlformats.org/officeDocument/2006/relationships/slide" Target="/ppt/slides/slide6.xml" Id="R5c6cb2f6b8bc424f" /><Relationship Type="http://schemas.openxmlformats.org/officeDocument/2006/relationships/slide" Target="/ppt/slides/slide7.xml" Id="R5714bc797b3146b6" /><Relationship Type="http://schemas.openxmlformats.org/officeDocument/2006/relationships/slide" Target="/ppt/slides/slide8.xml" Id="R4c5ca335a03c4801" /><Relationship Type="http://schemas.openxmlformats.org/officeDocument/2006/relationships/slide" Target="/ppt/slides/slide9.xml" Id="Ra6c104477f564906" /><Relationship Type="http://schemas.openxmlformats.org/officeDocument/2006/relationships/slide" Target="/ppt/slides/slide10.xml" Id="R1f90c41cb8904ed1" /><Relationship Type="http://schemas.openxmlformats.org/officeDocument/2006/relationships/slide" Target="/ppt/slides/slide11.xml" Id="Ra092d8865e824fa2" /><Relationship Type="http://schemas.openxmlformats.org/officeDocument/2006/relationships/slide" Target="/ppt/slides/slide12.xml" Id="Rddeace2ab31a45db" /><Relationship Type="http://schemas.openxmlformats.org/officeDocument/2006/relationships/slide" Target="/ppt/slides/slide13.xml" Id="R61ffa3e5e7624b9c" /><Relationship Type="http://schemas.openxmlformats.org/officeDocument/2006/relationships/slide" Target="/ppt/slides/slide14.xml" Id="R72f5ecc2291641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465b38010146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d011be8b114430" /><Relationship Type="http://schemas.openxmlformats.org/officeDocument/2006/relationships/notesMaster" Target="/ppt/notesMasters/notesMaster1.xml" Id="R6f95e0361d2a44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76002987034b66" /><Relationship Type="http://schemas.openxmlformats.org/officeDocument/2006/relationships/notesMaster" Target="/ppt/notesMasters/notesMaster1.xml" Id="R2a66b1520a114d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05f14140dd42ba" /><Relationship Type="http://schemas.openxmlformats.org/officeDocument/2006/relationships/notesMaster" Target="/ppt/notesMasters/notesMaster1.xml" Id="R742d167692c241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b2b5683650422c" /><Relationship Type="http://schemas.openxmlformats.org/officeDocument/2006/relationships/notesMaster" Target="/ppt/notesMasters/notesMaster1.xml" Id="Rddbafd360a564b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53faadbe974ea0" /><Relationship Type="http://schemas.openxmlformats.org/officeDocument/2006/relationships/notesMaster" Target="/ppt/notesMasters/notesMaster1.xml" Id="R0d7b4cc05c8846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ef52fd07a14158" /><Relationship Type="http://schemas.openxmlformats.org/officeDocument/2006/relationships/notesMaster" Target="/ppt/notesMasters/notesMaster1.xml" Id="Rfcfb9b971b0b49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3ff0e0b2d4480e" /><Relationship Type="http://schemas.openxmlformats.org/officeDocument/2006/relationships/notesMaster" Target="/ppt/notesMasters/notesMaster1.xml" Id="R040c17fa7add47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92f6639a8a49c5" /><Relationship Type="http://schemas.openxmlformats.org/officeDocument/2006/relationships/notesMaster" Target="/ppt/notesMasters/notesMaster1.xml" Id="R7faf9d22825c49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e7a8e171a44182" /><Relationship Type="http://schemas.openxmlformats.org/officeDocument/2006/relationships/notesMaster" Target="/ppt/notesMasters/notesMaster1.xml" Id="R7712e0b014d942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4e8d05f5e444de" /><Relationship Type="http://schemas.openxmlformats.org/officeDocument/2006/relationships/notesMaster" Target="/ppt/notesMasters/notesMaster1.xml" Id="R3900060d28b440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b30630722b4d13" /><Relationship Type="http://schemas.openxmlformats.org/officeDocument/2006/relationships/notesMaster" Target="/ppt/notesMasters/notesMaster1.xml" Id="R6e674b86dd974f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260c3cb003459f" /><Relationship Type="http://schemas.openxmlformats.org/officeDocument/2006/relationships/notesMaster" Target="/ppt/notesMasters/notesMaster1.xml" Id="R1a230927952a49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f5ac2ad8504d75" /><Relationship Type="http://schemas.openxmlformats.org/officeDocument/2006/relationships/notesMaster" Target="/ppt/notesMasters/notesMaster1.xml" Id="Rbaeff9c405aa49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d802158f5e46e5" /><Relationship Type="http://schemas.openxmlformats.org/officeDocument/2006/relationships/notesMaster" Target="/ppt/notesMasters/notesMaster1.xml" Id="R4519935a9d3649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files: README.md, config.py, evaluation_summary.json.</a:t>
            </a:r>
          </a:p>
          <a:p xmlns:a="http://schemas.openxmlformats.org/drawingml/2006/main">
            <a:r>
              <a:t>Team names provided by the user: مصطفى أيمن، منه عادل، أسر محمد، رؤى يوسف، نور صوفت.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Claim is based on project scope and generate.py safety prompt.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ingest.py, query.py, generate.py.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config.py, supplementary_sources.py, data/raw PDFs.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data/evaluation/evaluation_summary.json, data/chunks/chunks.jsonl, data/processed/pages.jsonl.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config.py CHUNK_SIZE/CHUNK_OVERLAP, ingest.py split_page/split_text.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requirements.txt, config.py, ingest.py build_index.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query_understanding.py, query.py, generate.py.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web/components/assistant-app.tsx, chat-panel.tsx, dashboard.tsx, analysis-auth.ts.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data/evaluation/evaluation_summary.json generated by evaluate.py.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Top-k runs: evaluation_summary_k1.json, evaluation_summary_k3.json, evaluation_summary_k4.json, evaluation_summary.json.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requirements.txt, web/package.json.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Demo behavior implemented in generate.py and chat-panel.tsx.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architecture and deployment caveat from current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b4d907f8146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b33a01ff874aa4" /><Relationship Type="http://schemas.openxmlformats.org/officeDocument/2006/relationships/slideLayout" Target="/ppt/slideLayouts/slideLayout1.xml" Id="R9f24d30d9eeb4c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24d30d9eeb4c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ab521d4a54216" /><Relationship Type="http://schemas.openxmlformats.org/officeDocument/2006/relationships/notesSlide" Target="/ppt/notesSlides/notesSlide1.xml" Id="Rb28705ad398d47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77175d2d043c4" /><Relationship Type="http://schemas.openxmlformats.org/officeDocument/2006/relationships/notesSlide" Target="/ppt/notesSlides/notesSlide2.xml" Id="R3b1780cffbb74c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162d2135a4109" /><Relationship Type="http://schemas.openxmlformats.org/officeDocument/2006/relationships/notesSlide" Target="/ppt/notesSlides/notesSlide3.xml" Id="Re3598f5f541248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6d17a8292432b" /><Relationship Type="http://schemas.openxmlformats.org/officeDocument/2006/relationships/notesSlide" Target="/ppt/notesSlides/notesSlide4.xml" Id="Rc13cc9bac2ef45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1d0855761417c" /><Relationship Type="http://schemas.openxmlformats.org/officeDocument/2006/relationships/notesSlide" Target="/ppt/notesSlides/notesSlide5.xml" Id="R76791afd005f45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65349b5664d81" /><Relationship Type="http://schemas.openxmlformats.org/officeDocument/2006/relationships/notesSlide" Target="/ppt/notesSlides/notesSlide6.xml" Id="Rd5fa279ebdcc48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9f8c4a3754105" /><Relationship Type="http://schemas.openxmlformats.org/officeDocument/2006/relationships/notesSlide" Target="/ppt/notesSlides/notesSlide7.xml" Id="R0ee992fc3dce4a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d1f1aa83e4f2c" /><Relationship Type="http://schemas.openxmlformats.org/officeDocument/2006/relationships/notesSlide" Target="/ppt/notesSlides/notesSlide8.xml" Id="R58e7afb13a5c47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d581e22804a19" /><Relationship Type="http://schemas.openxmlformats.org/officeDocument/2006/relationships/notesSlide" Target="/ppt/notesSlides/notesSlide9.xml" Id="Rcb15d4f9af6f45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2336bec51480d" /><Relationship Type="http://schemas.openxmlformats.org/officeDocument/2006/relationships/notesSlide" Target="/ppt/notesSlides/notesSlide10.xml" Id="R3eb11cbfc8054b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fa74176cd445c" /><Relationship Type="http://schemas.openxmlformats.org/officeDocument/2006/relationships/chart" Target="/ppt/slides/charts/chart1.xml" Id="R8c549d5fdd814ead" /><Relationship Type="http://schemas.openxmlformats.org/officeDocument/2006/relationships/notesSlide" Target="/ppt/notesSlides/notesSlide11.xml" Id="R2f369d35e5f142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636ac8e224ef1" /><Relationship Type="http://schemas.openxmlformats.org/officeDocument/2006/relationships/notesSlide" Target="/ppt/notesSlides/notesSlide12.xml" Id="R720f07991fac47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65ee6e9224933" /><Relationship Type="http://schemas.openxmlformats.org/officeDocument/2006/relationships/notesSlide" Target="/ppt/notesSlides/notesSlide13.xml" Id="R86d18fd4171345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f6e0351694cf7" /><Relationship Type="http://schemas.openxmlformats.org/officeDocument/2006/relationships/notesSlide" Target="/ppt/notesSlides/notesSlide14.xml" Id="R2d14b62e1660434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Found Rate</c:v>
          </c:tx>
          <c:spPr>
            <a:solidFill xmlns:a="http://schemas.openxmlformats.org/drawingml/2006/main">
              <a:srgbClr val="22C55E"/>
            </a:solidFill>
          </c:spPr>
          <c:cat>
            <c:strLit>
              <c:ptCount val="4"/>
              <c:pt idx="0">
                <c:v>k=1</c:v>
              </c:pt>
              <c:pt idx="1">
                <c:v>k=3</c:v>
              </c:pt>
              <c:pt idx="2">
                <c:v>k=4</c:v>
              </c:pt>
              <c:pt idx="3">
                <c:v>k=5</c:v>
              </c:pt>
            </c:strLit>
          </c:cat>
          <c:val>
            <c:numLit>
              <c:formatCode>0"%"</c:formatCode>
              <c:ptCount val="4"/>
              <c:pt idx="0">
                <c:v>77.05</c:v>
              </c:pt>
              <c:pt idx="1">
                <c:v>95.9</c:v>
              </c:pt>
              <c:pt idx="2">
                <c:v>97.54</c:v>
              </c:pt>
              <c:pt idx="3">
                <c:v>100</c:v>
              </c:pt>
            </c:numLit>
          </c:val>
        </c:ser>
        <c:ser>
          <c:idx val="1"/>
          <c:order val="1"/>
          <c:tx>
            <c:v>Precision</c:v>
          </c:tx>
          <c:spPr>
            <a:solidFill xmlns:a="http://schemas.openxmlformats.org/drawingml/2006/main">
              <a:srgbClr val="38BDF8"/>
            </a:solidFill>
          </c:spPr>
          <c:cat>
            <c:strLit>
              <c:ptCount val="4"/>
              <c:pt idx="0">
                <c:v>k=1</c:v>
              </c:pt>
              <c:pt idx="1">
                <c:v>k=3</c:v>
              </c:pt>
              <c:pt idx="2">
                <c:v>k=4</c:v>
              </c:pt>
              <c:pt idx="3">
                <c:v>k=5</c:v>
              </c:pt>
            </c:strLit>
          </c:cat>
          <c:val>
            <c:numLit>
              <c:formatCode>0"%"</c:formatCode>
              <c:ptCount val="4"/>
              <c:pt idx="0">
                <c:v>77.05</c:v>
              </c:pt>
              <c:pt idx="1">
                <c:v>39.62</c:v>
              </c:pt>
              <c:pt idx="2">
                <c:v>30.94</c:v>
              </c:pt>
              <c:pt idx="3">
                <c:v>25.74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1E293B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F8FAFC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F9A41-5036-4FB3-A03C-E6D8ECBD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80279-0828-44EF-A736-CF1B93C6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2C87784-71B9-4AD6-9876-CE08C7E7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D4BF"/>
                </a:solidFill>
              </a:defRPr>
            </a:pPr>
            <a:r>
              <a:rPr sz="1200" b="1">
                <a:solidFill>
                  <a:srgbClr val="2DD4BF"/>
                </a:solidFill>
              </a:rPr>
              <a:t>Evidence-grounded AI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4C6A7E9-E5A1-490A-A4EA-23765675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8FAFC"/>
                </a:solidFill>
              </a:defRPr>
            </a:pPr>
            <a:r>
              <a:rPr sz="4200" b="1">
                <a:solidFill>
                  <a:srgbClr val="F8FAFC"/>
                </a:solidFill>
              </a:rPr>
              <a:t>Colorectal Cancer</a:t>
            </a:r>
          </a:p>
          <a:p xmlns:a="http://schemas.openxmlformats.org/drawingml/2006/main">
            <a:pPr algn="l">
              <a:defRPr sz="4200" b="1">
                <a:solidFill>
                  <a:srgbClr val="F8FAFC"/>
                </a:solidFill>
              </a:defRPr>
            </a:pPr>
            <a:r>
              <a:rPr sz="4200" b="1">
                <a:solidFill>
                  <a:srgbClr val="F8FAFC"/>
                </a:solidFill>
              </a:rPr>
              <a:t>Assistant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65B05F-7230-4A96-BE1C-13D6DD0C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4A3B8"/>
                </a:solidFill>
              </a:defRPr>
            </a:pPr>
            <a:r>
              <a:rPr sz="1800" b="0">
                <a:solidFill>
                  <a:srgbClr val="94A3B8"/>
                </a:solidFill>
              </a:rPr>
              <a:t>A bilingual RAG assistant that answers only from NICE guidance, with citations and private retrieval analytics.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68F29-7444-45CB-A652-C44992FC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143250" cy="34290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FC16D5D-204B-4EC7-AFC8-B115EE57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90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Team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160880C-5682-4203-B12D-638E173E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D4BF"/>
                </a:solidFill>
              </a:defRPr>
            </a:pPr>
            <a:r>
              <a:rPr sz="1575" b="0">
                <a:solidFill>
                  <a:srgbClr val="2DD4BF"/>
                </a:solidFill>
              </a:rPr>
              <a:t>Mostafa Ayman - Team Leader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79F30A-C8E9-428B-8905-EF501874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Menna Adel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87DE205-B67E-44FA-906F-453C30E8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Asr Mohamed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9AE2A88-A75E-4947-A2BD-CBE633FD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Roaa Youssef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80F61FD-9AA8-42A8-B798-EB32F948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Nour Soft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B812D4B-6BC1-4D89-B779-C620CF2A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519C185-CC4D-4D32-9526-73DFF825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056452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4544D-A626-45CF-B511-959D3E0A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35F5A-6985-489F-A792-D7B09E15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1E7D485-481B-4C09-AF0E-C616F1AD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PROBLEM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B267E3-D1E2-406E-B038-FADC29CC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Clinical answers fail when they are not grounded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EA749B-2706-475B-9736-B19C4950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General chatbots can sound confident even when the answer needs a trusted guideline.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4E75D-DE54-4AD9-BC6F-AF6D9672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5C8783-86D5-40D6-9563-1C2C6E9F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14625"/>
            <a:ext cx="760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Medical questions need traceable evidence, not unsupported model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58842-1ABF-447C-9BF5-F26344C1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DFDB0B4-5254-4459-AB6B-314C9209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86125"/>
            <a:ext cx="760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Arabic users should get the same quality as English users.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E03DE-0CA2-443C-A346-BC5AA0DA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6FC4976-2452-45E8-BCAD-F0DC1E87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57625"/>
            <a:ext cx="760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The system must refuse when NICE guidance does not support the answer.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F85A2-9067-4B79-8037-4C458776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219075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B2B2A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EAC0070-3DAC-4AFB-BDD4-2F46A6F7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D4BF"/>
                </a:solidFill>
              </a:defRPr>
            </a:pPr>
            <a:r>
              <a:rPr sz="1800" b="1">
                <a:solidFill>
                  <a:srgbClr val="2DD4BF"/>
                </a:solidFill>
              </a:rPr>
              <a:t>Design goal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8186CCA-B18F-4578-8279-C4687C43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</a:defRPr>
            </a:pPr>
            <a:r>
              <a:rPr sz="1650" b="0">
                <a:solidFill>
                  <a:srgbClr val="F8FAFC"/>
                </a:solidFill>
              </a:rPr>
              <a:t>Fast, cited, bilingual, and safe enough to explain.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B234595-DDD7-40EF-BA2F-75E0FA06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710E953-EC38-4BC4-A22E-F90D6B10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444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4DC4ED-BA7F-49A8-8765-A22F15C9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20D94-06CD-4F56-8C6B-69634FF1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22C2B53-75C8-4BDA-A441-3547AEF1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SOLUTION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38DEE9D-3183-4355-882A-18EA2E80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A compact full-stack RAG system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D32F27-D24D-4711-8473-711F983D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We separated knowledge retrieval from answer generation so every response can be tied back to NICE.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CC49A-3A30-4360-AAA8-1784C039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96E4D-F051-41EF-9BF9-C447BAE5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CD33E59-8B45-44F1-BD63-43AC5BAC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20617"/>
                </a:solidFill>
              </a:defRPr>
            </a:pPr>
            <a:r>
              <a:rPr sz="1200" b="1">
                <a:solidFill>
                  <a:srgbClr val="020617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808681E-0EB1-4925-BA51-A59554A0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146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Parse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572378-D9E7-4FF5-9FFC-B0691485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385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Convert NICE PDFs into cleaned Markdown and page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3F6A3-C48B-40A5-BE11-288B3AF2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D12BB-E80A-4DD4-9D56-814D862E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57ECFCA-2385-4E6A-ACE9-E74498E6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90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20617"/>
                </a:solidFill>
              </a:defRPr>
            </a:pPr>
            <a:r>
              <a:rPr sz="1200" b="1">
                <a:solidFill>
                  <a:srgbClr val="020617"/>
                </a:solidFill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4F86410-485D-464F-96C6-DCB4522C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146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Chunk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D08ACF8-A73C-4DA1-91CA-0ECA01B9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Split by document structure, recommendation numbers, and token budget.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62FEE-F9DA-4BAF-AEA6-134B2937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C65A7-FB02-454E-A3A5-F4D49F04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ADCBF5A-406A-4526-B223-210E6069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20617"/>
                </a:solidFill>
              </a:defRPr>
            </a:pPr>
            <a:r>
              <a:rPr sz="1200" b="1">
                <a:solidFill>
                  <a:srgbClr val="020617"/>
                </a:solidFill>
              </a:rPr>
              <a:t>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06BB061-41F9-4CC8-BE41-7FA0C85E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Embed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57696AB-5306-428F-89BB-CECDA42C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Use multilingual-e5-base to create vectors for every chunk.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6A1D1-9A67-42AC-9F64-C8EE9B57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971A89-6F32-44B2-9732-09E0AA24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CEE7A9E-A7F6-4AEE-AA6F-52B80765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90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20617"/>
                </a:solidFill>
              </a:defRPr>
            </a:pPr>
            <a:r>
              <a:rPr sz="1200" b="1">
                <a:solidFill>
                  <a:srgbClr val="020617"/>
                </a:solidFill>
              </a:rPr>
              <a:t>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9F99A7B-4D5A-45CD-AC0B-9533A797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46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Answer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2B60011-9C29-4A2F-802E-F0349992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Retrieve Top-5 evidence, generate a short cited response.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52432C6-00B3-4425-BAF7-54383D6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B2316C1-BA0D-40A7-B8C3-6A731C89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34734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B1E68-CE78-476F-BD1F-BB7DD26E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40DFF-1E9A-4467-B1AE-DCE87E7B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9718BDE-9EE8-4C01-B3E3-E092255F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DATA FOUNDATION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A7BC45D-58AC-473B-B1EC-9A426586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Two NICE sources cover treatment and referral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D5403AE-2F63-4E2E-B7D1-56B6D1B9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NG151 is the core colorectal cancer guideline. NG12 fills the recognition and referral gap.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7ED87-A0A0-4B05-939D-D10692A7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762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42F2074-1CEB-436A-A8C8-F3BAFA88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BDF8"/>
                </a:solidFill>
              </a:defRPr>
            </a:pPr>
            <a:r>
              <a:rPr sz="2250" b="1">
                <a:solidFill>
                  <a:srgbClr val="38BDF8"/>
                </a:solidFill>
              </a:rPr>
              <a:t>NICE NG151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124AAA-BEC1-491F-97C0-200514CB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Management of colorectal cancer: local disease, metastatic disease, follow-up, patient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12A28-7739-492D-A4F5-DD13B7A6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762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D6E33D2-8594-494E-846D-8EEC8E2C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9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D4BF"/>
                </a:solidFill>
              </a:defRPr>
            </a:pPr>
            <a:r>
              <a:rPr sz="2250" b="1">
                <a:solidFill>
                  <a:srgbClr val="2DD4BF"/>
                </a:solidFill>
              </a:rPr>
              <a:t>NICE NG12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33205C0-2338-4F71-8DA2-CDD317EE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Only the colorectal recognition and referral recommendations were added: symptoms, FIT, referral pathway.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81F4BC9-1451-4B89-B045-5E903174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04241A9-73FB-4EC1-8742-E9FB1A12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0658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127E5-3480-4C94-9D27-EF137951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9B3F9-05F3-4A1B-8D4B-8FAD7D39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B59E1EA-F8F5-473A-91F2-65D09E71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INGESTION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9D065A2-C14D-4C2A-90DE-DFF5898C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The PDF becomes clean, citation-ready evidence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031043-4E80-4BD1-A163-144912ED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The ingestion script keeps enough structure for retrieval and citations.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1A8B0-00DD-4653-B332-9930CACA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95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B1F34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B57081-28CC-436F-B427-18785072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PDF pages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9A9837E-6CFB-4A1A-81B6-B4D6FBB9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623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94A3B8"/>
                </a:solidFill>
              </a:defRPr>
            </a:pPr>
            <a:r>
              <a:rPr sz="2400" b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C5FC4-9A6C-48BC-8824-560BB4EA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2095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68CD82C-7242-4AA2-A083-F2973333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908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Clean Markdown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235EC0D-1444-485C-A912-8C5BE107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623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94A3B8"/>
                </a:solidFill>
              </a:defRPr>
            </a:pPr>
            <a:r>
              <a:rPr sz="2400" b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29AA0-8C93-41B9-99A1-F611225E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095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740D219-BF15-49CC-BC3F-20D7A941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Recommendation chunks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97B03C3-1E75-43FA-9750-CF9D8463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94A3B8"/>
                </a:solidFill>
              </a:defRPr>
            </a:pPr>
            <a:r>
              <a:rPr sz="2400" b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7E92C-1289-4BB6-98AF-44E44023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2095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71EE7DB-3CFF-4CD9-81A3-AFC8FFA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908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</a:rPr>
              <a:t>Chroma vectors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C6BF233-E8F1-4A66-A88D-4366919A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053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D4BF"/>
                </a:solidFill>
              </a:defRPr>
            </a:pPr>
            <a:r>
              <a:rPr sz="1650" b="1">
                <a:solidFill>
                  <a:srgbClr val="2DD4BF"/>
                </a:solidFill>
              </a:rPr>
              <a:t>130 evaluation questions • 95 indexed chunks • 51 parsed page records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1063389-BB26-4924-9C30-4D2D0881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E703928-1165-4611-84F4-07B71ECB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1971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F8FF5-7970-4A71-B782-F9E9661A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2A38E-1639-4336-8AD2-A0B41E92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6984E0F-8607-4C6F-9EFE-9321B0F2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CHUNKING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E98E5FA-3B02-4D47-8F75-A2E00747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We used structure-aware recursive chunking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14ECE72-869A-43A7-9E29-8868830E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Not a blind fixed-size split. The splitter respects recommendation boundaries and tables where possible.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EF76F-F061-48DC-BC6E-EF9A2896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857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4C584A-251A-45DA-949D-2A722EC4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Chunk size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3A0AB6-3A3D-4469-94EE-7E8712A8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BDF8"/>
                </a:solidFill>
              </a:defRPr>
            </a:pPr>
            <a:r>
              <a:rPr sz="2550" b="1">
                <a:solidFill>
                  <a:srgbClr val="38BDF8"/>
                </a:solidFill>
              </a:rPr>
              <a:t>450 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6E6BC-C4D8-4312-9DFB-DE854E9A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2857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FF50BAB-8A10-4E18-B699-FB369FD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051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Overlap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6850510-2861-475A-810B-0A9A9448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9090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DD4BF"/>
                </a:solidFill>
              </a:defRPr>
            </a:pPr>
            <a:r>
              <a:rPr sz="2550" b="1">
                <a:solidFill>
                  <a:srgbClr val="2DD4BF"/>
                </a:solidFill>
              </a:rPr>
              <a:t>80 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74385-321A-4FB1-BDA5-24D1F3F2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2857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A083546-ACE2-4BA6-8C63-2F52E587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051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Final chunks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67A75BC-01F5-4E0F-AF68-A8F3AFA3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C55E"/>
                </a:solidFill>
              </a:defRPr>
            </a:pPr>
            <a:r>
              <a:rPr sz="2550" b="1">
                <a:solidFill>
                  <a:srgbClr val="22C55E"/>
                </a:solidFill>
              </a:rPr>
              <a:t>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F4843-760A-4A55-A3BB-D31C72BB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CE456BD-DAC1-46F5-9342-0F19FE86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Document-aware: recommendation numbers, pages, tables, sections.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DB961-B811-4B5D-B9E7-59E4D107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C0419E1-46A5-4D4E-B170-A5B97596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6730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Recursive: paragraphs, lines, sentences, words as fallback separators.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C682D37-03F9-40CD-80A3-4CF4934E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31C01ED-552A-4347-8787-44830D59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1087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0792E-A7F9-4CB8-85D3-7C53C904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A19BE-8DA4-42DC-9CB2-D50D1AAB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0CFC752-0868-4E17-9A7F-98EDD5BC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EMBEDDING AND VECTOR SEARCH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320F8FA-7782-42E5-AC5F-6081D978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The search layer is open-source and bilingual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8CB45F-7BAC-4BE4-8BC3-8AA71CD1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Arabic and English questions are mapped into the same vector space as the guideline chunks.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DC768-E215-4422-A784-4883B309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5720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817932-FB2E-46DB-8869-BA6B32D3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Embedding model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1DB45CB-3A41-4AD9-97A5-353D39A7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</a:defRPr>
            </a:pPr>
            <a:r>
              <a:rPr sz="2325" b="1">
                <a:solidFill>
                  <a:srgbClr val="F8FAFC"/>
                </a:solidFill>
              </a:rPr>
              <a:t>intfloat/multilingual-e5-base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5036EBB-A87E-489F-8F2F-72CA8BD8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529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Chosen because it handles Arabic/English retrieval without a paid embedding API.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8D392-72C0-4427-BDD0-36070A4E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34290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C545D96-EA2B-4E4D-BA77-240C760B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05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</a:rPr>
              <a:t>Vector database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48CB98-D0B8-4B3B-91D1-D9F9DE68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2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</a:defRPr>
            </a:pPr>
            <a:r>
              <a:rPr sz="2700" b="1">
                <a:solidFill>
                  <a:srgbClr val="F8FAFC"/>
                </a:solidFill>
              </a:rPr>
              <a:t>Chroma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CE9EC11-BB87-4D87-A413-E1FD421F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5290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Persistent local store with chunk metadata for citations.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DE3E0FA-80DF-461D-A7EF-901E764A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4B3AD0E-D64F-43F3-B97C-BA764674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63521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1E9578-6E1B-4D34-A04F-12DE7490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9ECD5-80E6-410D-B1F6-32701511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3B0E055-6BB1-43FB-AD46-E8413164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RETRIEVAL TO ANSWER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91375B-5FF5-4CC1-B15A-0D5621D7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Generation is constrained by retrieved evidence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4AF265-A03F-4F97-8571-DC733EC9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The LLM writes the final answer, but it is not allowed to invent outside the passages.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6525E-1F06-413A-9DAB-77479402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C497E-C38C-494A-8A0F-004D3E77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A7E07C-9A77-4AD7-93B8-1A4FDD07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20617"/>
                </a:solidFill>
              </a:defRPr>
            </a:pPr>
            <a:r>
              <a:rPr sz="1200" b="1">
                <a:solidFill>
                  <a:srgbClr val="020617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C3B62B-F7FD-4868-84DF-99991839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146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Understand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9F4D87C-6A06-466F-9E2D-A1CB4891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385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Normalize Arabic and detect intent.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BC604-E3FB-4C74-BCE3-285FA6EC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7EEEF-DB1E-41D5-8B86-4F3A10B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33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281AF16-C105-4014-B3AE-716E89FB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20617"/>
                </a:solidFill>
              </a:defRPr>
            </a:pPr>
            <a:r>
              <a:rPr sz="1200" b="1">
                <a:solidFill>
                  <a:srgbClr val="020617"/>
                </a:solidFill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7876EEA-7DC8-4E99-9EDB-048BA374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146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Retrieve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ADD7E93-9347-4546-A2E4-DC22D53E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385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Search Chroma using Top-k = 5.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2E43B-697A-4BDF-859D-D7B5FB4B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ED03A-D1E9-4B03-90FB-245F6388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22C55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1320F5B-FAF0-4AD8-835D-D0189A21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20617"/>
                </a:solidFill>
              </a:defRPr>
            </a:pPr>
            <a:r>
              <a:rPr sz="1200" b="1">
                <a:solidFill>
                  <a:srgbClr val="020617"/>
                </a:solidFill>
              </a:rPr>
              <a:t>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99FA512-88C3-4089-A2FE-71C299A5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146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Generate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7CF9BD7-542E-4A9F-9205-F973B369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Qwen on Groq writes a concise answer.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D088D9-937C-466E-9ABF-411AE0B4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64197-4E14-4444-A48C-AE1F0E76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33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C939861-A2BA-4DAB-8C86-E5DA673D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90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20617"/>
                </a:solidFill>
              </a:defRPr>
            </a:pPr>
            <a:r>
              <a:rPr sz="1200" b="1">
                <a:solidFill>
                  <a:srgbClr val="020617"/>
                </a:solidFill>
              </a:rPr>
              <a:t>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2E3A81A-23B1-40D8-97C5-7A7FE88E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Validate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3DBA912-2970-4BE3-AF4B-F5CDBD72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Check citation format and claim support.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CCFB857-F7BD-4C78-B12D-DA06F79F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434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If evidence is missing, the assistant refuses instead of guessing.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063CFB3-6F67-4A5F-88D6-1E6D2EC9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E078157-0C76-4A54-9DD1-677C2E2C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09717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2B638-2949-469B-92DE-5E39C002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7BB26-7348-4D7E-A243-162C5A8A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2A7D757-16D9-46B2-9992-46D71FF9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FRONTEND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CB14465-A17E-4B76-845D-BF88A5EB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The product experience is a real chat, not a terminal demo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665137D-E7A9-4472-A900-1EB06E0F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The website gives users a bilingual interface and hides citations behind a clean source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F3991-1A38-4F50-B383-9E5D0492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76250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0BBED51-CCF4-4384-BA8F-85C7B3A6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User-facing chat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F60D7-ED48-48BB-BD85-92CC8580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6C82AC4-F8C5-4759-A1DF-982192BD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Arabic / English language switch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8C6D1-4B05-458A-99C4-DB691DB4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BD35DA-1006-43D1-A62C-552ECC70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Loading state while retrieval and generation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1B2D7-C2C7-47CA-BFCF-7BDA907F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5D003ED-3E54-42AA-A4B4-BB88E0C8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7675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NICE source expands on click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42457-D036-4D8B-A00E-19B22476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09575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362794B-6F13-465B-971D-E7639BE1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95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D4BF"/>
                </a:solidFill>
              </a:defRPr>
            </a:pPr>
            <a:r>
              <a:rPr sz="2250" b="1">
                <a:solidFill>
                  <a:srgbClr val="2DD4BF"/>
                </a:solidFill>
              </a:rPr>
              <a:t>Private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B07D0-46EF-43A3-8586-D76F84F4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8E5A228-B15C-4059-BC99-4616976F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2425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Password protected admin page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A6219-3481-40FF-9E20-C5F9F8B5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1AD3F28-65C2-4A89-876E-401899E2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005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Metric cards, charts, filters, per-question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EAC360-DD14-4C06-9608-E22C23A6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11EFA5C-F66F-4282-8E8E-A8729BE3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7675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Temporary Top-k experiments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B9705B1-DA58-41F3-A486-CD7402FA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462C7A9-B662-4389-A5F3-A36269A9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834679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F392F-8A96-4875-82D4-1A6DDCCF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A02B4-BA11-410B-9FE8-5DB9A4DC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F4E159F-9A0B-4FBF-B1F7-05C11058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EVALUATION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13FF43D-4AED-4561-866B-311C8257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The current baseline retrieves every expected evidence item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49D3538-BC98-4256-A24A-BE274410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The baseline test set now covers Arabic, English, in-scope, and out-of-scope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7CCAA-38CB-4D95-AA08-0345D9CE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476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ED0B424-050A-47E1-9E2E-8D7F7B24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Found Rate@5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E981D52-C2DF-4CCF-BA57-532EFFCF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C55E"/>
                </a:solidFill>
              </a:defRPr>
            </a:pPr>
            <a:r>
              <a:rPr sz="2550" b="1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06967-8597-4179-8B5C-3F9B2571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2476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CD9862-4227-4C37-AAC5-DB22A41A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MAP@5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41FD95-2D28-4699-950E-0302F267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004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BDF8"/>
                </a:solidFill>
              </a:defRPr>
            </a:pPr>
            <a:r>
              <a:rPr sz="2550" b="1">
                <a:solidFill>
                  <a:srgbClr val="38BDF8"/>
                </a:solidFill>
              </a:rPr>
              <a:t>82.6%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DDF16-F953-48D7-B763-3FC8AC78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2476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C8B81B-305C-47E1-85BB-B10E6EB1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14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MRR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64EEB95-D0B3-4266-97E6-04244FAE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DD4BF"/>
                </a:solidFill>
              </a:defRPr>
            </a:pPr>
            <a:r>
              <a:rPr sz="2550" b="1">
                <a:solidFill>
                  <a:srgbClr val="2DD4BF"/>
                </a:solidFill>
              </a:rPr>
              <a:t>86.2%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E1BB0-A447-401D-84AC-02F9356E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2095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2ACAE34-5EB2-4300-935D-360807FD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146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Questions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3EB9C07-ACA6-4C26-B633-C1FE10B8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004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130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8439BED-7531-4176-8018-1705C39F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9625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8FAFC"/>
                </a:solidFill>
              </a:defRPr>
            </a:pPr>
            <a:r>
              <a:rPr sz="1800" b="0">
                <a:solidFill>
                  <a:srgbClr val="F8FAFC"/>
                </a:solidFill>
              </a:rPr>
              <a:t>122/122 in-scope questions passed • Arabic 61/61 • English 61/61 • 8 out-of-scope checks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45FA8E4-FCE6-49CE-B704-4CE463BE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76386AF-F67E-4AB2-A453-C6320C9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04380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5579C-1D19-4DA3-BD51-5FAD5010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E026A-4155-4248-965C-8F0DBB03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1AEE5C7-8143-4867-82FA-40D95E98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TOP-K DECISION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15960EB-4FFA-43A3-BF3C-EECC24DA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k=5 wins because coverage matters most for grounded answers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D55752-06F2-4EC5-86CB-FBCB544F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Precision drops as k increases, but coverage reaches 100% at k=5.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990600" y="2495550"/>
          <a:ext xmlns:a="http://schemas.openxmlformats.org/drawingml/2006/main" cx="6858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549d5fdd814ea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EAB22-FDC9-4E7A-9AF8-0CBE0B97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2571750" cy="19431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9BAD256-3492-4A11-BD97-11089148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C55E"/>
                </a:solidFill>
              </a:defRPr>
            </a:pPr>
            <a:r>
              <a:rPr sz="1950" b="1">
                <a:solidFill>
                  <a:srgbClr val="22C55E"/>
                </a:solidFill>
              </a:rPr>
              <a:t>Decision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FB547FF-28FB-49B1-96A8-CA705CBE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</a:defRPr>
            </a:pPr>
            <a:r>
              <a:rPr sz="1575" b="0">
                <a:solidFill>
                  <a:srgbClr val="F8FAFC"/>
                </a:solidFill>
              </a:rPr>
              <a:t>Use Top-k = 5 in production. It gives the generator enough evidence without flooding it.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774ABD-3BC3-4CDD-B161-C2B1AC61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E84F3B2-FF37-4C53-8FE5-976453AD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03601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0AD59-8833-4622-BFB7-3152514D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ED411-D51C-4B6B-BD25-BD231AF5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7293A51-9F8F-4691-8B47-C4BA96D9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TECHNICAL STACK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5386F83-3202-4C1C-9914-BD71D1DE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Every library has a clear role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A26367-0ADB-4355-B9C6-6416C05D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The implementation stays explainable for a beginner while matching common RAG practice.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DB42D-3063-42FA-AEB2-7DBE2CDB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952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F550F78-2BC0-41AB-9E55-071D3C77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Parsing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2A10425-9299-4955-9BA2-32190F2C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pymupdf4llm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9C802-D6BF-42F8-9F0E-2D044BF0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2952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6CD2960-0D1E-4766-B458-201152ED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Chunking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90D75EA-A769-4116-9035-3900354F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24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LangChain splitters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0857F-D188-48A4-81CB-B0E68B15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2952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4A4818B-83B2-4722-AEE9-92043740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57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Embeddings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41AE1C4-CFA0-4ECA-863F-6C7B974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24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Sentence Transformers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4DDC9-D0B2-40D1-ABF4-2892D818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952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A49A345-5DDD-45C8-8C70-FE81A20B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Vector DB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854EEE7-82A7-4C25-9CC3-6C010062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Chroma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4A83C-8EE9-4E1D-B163-1F65E01C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2952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9145F27-9472-4A8D-AF17-DBB1BEF5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Generation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A8BF9F9-6539-4309-8E9C-48232A2B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38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Groq + Qwen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809E8-2214-4157-9CFD-44F74B0B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952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0E6CF8E-03F2-4D3F-AC03-C0EC9486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Frontend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4E3374B-FC9A-4066-8E42-08715414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38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Next.js + TypeScript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A437D62-93EB-4A3F-A76B-03136B03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D126FEF-6341-4430-8818-4010F5BD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403247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F1100-1FD5-45C0-BE57-DF8B7533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6C868-D274-4BFF-A2F0-62447236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6360D5F-D2B9-46C6-8BDE-A160CC90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DEMO FLOW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F25113-CBAA-4231-984E-E911E720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The fastest presentation path is one question and one source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6F51B7-F738-4727-B404-714156B6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Use a question that maps clearly to a NICE recommendation.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81878-4DC0-4B31-966D-230352F2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762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F900B9-4257-46B5-8C82-83371F82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Suggested demo prompt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23D5A29-FC99-4E4C-934A-BC42C0D8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</a:defRPr>
            </a:pPr>
            <a:r>
              <a:rPr sz="2100" b="0">
                <a:solidFill>
                  <a:srgbClr val="F8FAFC"/>
                </a:solidFill>
              </a:rPr>
              <a:t>What follow-up is recommended after curative colorectal cancer surgery?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FDA137-9270-4F60-8408-C52391C3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Expected source: NICE NG151, recommendation 1.6.1, page 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096B9-9F43-428E-B088-A847DB20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40957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27820E0-6E2F-4295-A8A8-143EDDF8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76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</a:rPr>
              <a:t>What to point 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A0CDF-32D4-4EA2-A366-69BAE716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CF4F0B2-025F-4835-B28E-5ED9C75A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99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Use either Arabic or English in the live chat.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FDD4E-6AD8-43B3-BE3F-B27F3AA8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EF1EB9C-C72F-4470-8478-D49F50D3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8620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Source opens behind NICE source button.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5A4DF-3387-4AD2-B3A4-FD2162A7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1331386-B8D8-452B-9FA9-23711234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Analysis page proves retrieval quality.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A9363E6-80E3-48D8-A61C-3C5D4CBD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1E940FC-31B2-4E80-9CFB-86869BD8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368158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1FB16-3086-411D-A535-8A1F70F6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143000"/>
            <a:ext cx="3619500" cy="3619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344B6-D0E3-406A-8991-8B918117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86328B7-8F9D-42B7-8B65-24124A9A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CLOSE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9012541-D543-419C-9DA7-384DE23C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A focused assistant beats a generic chatbot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123BA90-BDDE-4E4B-8A83-4D13B920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The project proves a clean RAG flow: trusted source, measured retrieval, safe generation, and a usable interface.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8B80F-CE81-4576-B80A-6C272A92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100584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1629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80B706C-88C2-476E-9CAD-981ED307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D4BF"/>
                </a:solidFill>
              </a:defRPr>
            </a:pPr>
            <a:r>
              <a:rPr sz="1800" b="1">
                <a:solidFill>
                  <a:srgbClr val="2DD4BF"/>
                </a:solidFill>
              </a:rPr>
              <a:t>Built by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8EBFCA-67B4-4839-8B92-D6424B38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623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Mostafa Ayman • Menna Adel • Asr Mohamed • Roaa Youssef • Nour Soft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72C701F-4193-41A2-8CA4-3BEA4B20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911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4A3B8"/>
                </a:solidFill>
              </a:defRPr>
            </a:pPr>
            <a:r>
              <a:rPr sz="1650" b="0">
                <a:solidFill>
                  <a:srgbClr val="94A3B8"/>
                </a:solidFill>
              </a:rPr>
              <a:t>Next step: deploy the web app with a managed Python service or prebuilt retrieval API.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49C3B70-0AE5-4927-B27A-75AB79A9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Colorectal Cancer Assistant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517B632-5830-479F-AF23-C7E8F5FD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81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26005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2026-08-19T20:34:28.4960000Z</dcterms:created>
  <dcterms:modified xsi:type="dcterms:W3CDTF">2026-08-19T20:34:28.4960000Z</dcterms:modified>
</coreProperties>
</file>